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3" r:id="rId3"/>
    <p:sldId id="257" r:id="rId4"/>
    <p:sldId id="264" r:id="rId5"/>
    <p:sldId id="259" r:id="rId6"/>
    <p:sldId id="258" r:id="rId7"/>
    <p:sldId id="260" r:id="rId8"/>
    <p:sldId id="265" r:id="rId9"/>
    <p:sldId id="261" r:id="rId10"/>
    <p:sldId id="266"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2" d="100"/>
          <a:sy n="62"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327179-65E0-4886-A339-C8B7D52FDE63}" type="datetimeFigureOut">
              <a:rPr lang="en-IN" smtClean="0"/>
              <a:t>05-06-2026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C4D97E-10E1-4A01-8B9F-C06B8EB9EBA1}" type="slidenum">
              <a:rPr lang="en-IN" smtClean="0"/>
              <a:t>‹#›</a:t>
            </a:fld>
            <a:endParaRPr lang="en-IN"/>
          </a:p>
        </p:txBody>
      </p:sp>
    </p:spTree>
    <p:extLst>
      <p:ext uri="{BB962C8B-B14F-4D97-AF65-F5344CB8AC3E}">
        <p14:creationId xmlns:p14="http://schemas.microsoft.com/office/powerpoint/2010/main" val="2278172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F1FCF7-9E03-4D32-B6CF-C127C7282BA4}" type="slidenum">
              <a:rPr lang="en-IN" smtClean="0"/>
              <a:t>6</a:t>
            </a:fld>
            <a:endParaRPr lang="en-IN"/>
          </a:p>
        </p:txBody>
      </p:sp>
    </p:spTree>
    <p:extLst>
      <p:ext uri="{BB962C8B-B14F-4D97-AF65-F5344CB8AC3E}">
        <p14:creationId xmlns:p14="http://schemas.microsoft.com/office/powerpoint/2010/main" val="195347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F1FCF7-9E03-4D32-B6CF-C127C7282BA4}" type="slidenum">
              <a:rPr lang="en-IN" smtClean="0"/>
              <a:t>7</a:t>
            </a:fld>
            <a:endParaRPr lang="en-IN"/>
          </a:p>
        </p:txBody>
      </p:sp>
    </p:spTree>
    <p:extLst>
      <p:ext uri="{BB962C8B-B14F-4D97-AF65-F5344CB8AC3E}">
        <p14:creationId xmlns:p14="http://schemas.microsoft.com/office/powerpoint/2010/main" val="4106194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A9467-06E7-4329-AE8C-2A605F8D4A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72D01C-0358-460E-A323-A838F81000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8140F1-4F81-4C49-A9CF-E0CAF39DEFFD}"/>
              </a:ext>
            </a:extLst>
          </p:cNvPr>
          <p:cNvSpPr>
            <a:spLocks noGrp="1"/>
          </p:cNvSpPr>
          <p:nvPr>
            <p:ph type="dt" sz="half" idx="10"/>
          </p:nvPr>
        </p:nvSpPr>
        <p:spPr/>
        <p:txBody>
          <a:bodyPr/>
          <a:lstStyle/>
          <a:p>
            <a:fld id="{3068BE31-C07E-4766-8323-F2CF35956479}" type="datetimeFigureOut">
              <a:rPr lang="en-IN" smtClean="0"/>
              <a:t>05-06-2026</a:t>
            </a:fld>
            <a:endParaRPr lang="en-IN"/>
          </a:p>
        </p:txBody>
      </p:sp>
      <p:sp>
        <p:nvSpPr>
          <p:cNvPr id="5" name="Footer Placeholder 4">
            <a:extLst>
              <a:ext uri="{FF2B5EF4-FFF2-40B4-BE49-F238E27FC236}">
                <a16:creationId xmlns:a16="http://schemas.microsoft.com/office/drawing/2014/main" id="{477A176C-BA32-4DBC-92C3-B19AD2FF6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D656BE-F7C5-4F2E-830F-A5E987821136}"/>
              </a:ext>
            </a:extLst>
          </p:cNvPr>
          <p:cNvSpPr>
            <a:spLocks noGrp="1"/>
          </p:cNvSpPr>
          <p:nvPr>
            <p:ph type="sldNum" sz="quarter" idx="12"/>
          </p:nvPr>
        </p:nvSpPr>
        <p:spPr/>
        <p:txBody>
          <a:bodyPr/>
          <a:lstStyle/>
          <a:p>
            <a:fld id="{E69F0354-B745-4BFE-8023-DC5D6558FF85}" type="slidenum">
              <a:rPr lang="en-IN" smtClean="0"/>
              <a:t>‹#›</a:t>
            </a:fld>
            <a:endParaRPr lang="en-IN"/>
          </a:p>
        </p:txBody>
      </p:sp>
    </p:spTree>
    <p:extLst>
      <p:ext uri="{BB962C8B-B14F-4D97-AF65-F5344CB8AC3E}">
        <p14:creationId xmlns:p14="http://schemas.microsoft.com/office/powerpoint/2010/main" val="264563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BE6D1-5783-49F5-85F8-55EF51419B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3D3B76-6051-4AEF-B9B8-1A22067F71C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6CBB37-C8A1-4874-ACC7-ABAA8202A2A8}"/>
              </a:ext>
            </a:extLst>
          </p:cNvPr>
          <p:cNvSpPr>
            <a:spLocks noGrp="1"/>
          </p:cNvSpPr>
          <p:nvPr>
            <p:ph type="dt" sz="half" idx="10"/>
          </p:nvPr>
        </p:nvSpPr>
        <p:spPr/>
        <p:txBody>
          <a:bodyPr/>
          <a:lstStyle/>
          <a:p>
            <a:fld id="{3068BE31-C07E-4766-8323-F2CF35956479}" type="datetimeFigureOut">
              <a:rPr lang="en-IN" smtClean="0"/>
              <a:t>05-06-2026</a:t>
            </a:fld>
            <a:endParaRPr lang="en-IN"/>
          </a:p>
        </p:txBody>
      </p:sp>
      <p:sp>
        <p:nvSpPr>
          <p:cNvPr id="5" name="Footer Placeholder 4">
            <a:extLst>
              <a:ext uri="{FF2B5EF4-FFF2-40B4-BE49-F238E27FC236}">
                <a16:creationId xmlns:a16="http://schemas.microsoft.com/office/drawing/2014/main" id="{1ED0995F-A751-42AA-9650-F7F6E2AFC8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8D0F19-1819-43C6-BEC1-6C24D34B97FE}"/>
              </a:ext>
            </a:extLst>
          </p:cNvPr>
          <p:cNvSpPr>
            <a:spLocks noGrp="1"/>
          </p:cNvSpPr>
          <p:nvPr>
            <p:ph type="sldNum" sz="quarter" idx="12"/>
          </p:nvPr>
        </p:nvSpPr>
        <p:spPr/>
        <p:txBody>
          <a:bodyPr/>
          <a:lstStyle/>
          <a:p>
            <a:fld id="{E69F0354-B745-4BFE-8023-DC5D6558FF85}" type="slidenum">
              <a:rPr lang="en-IN" smtClean="0"/>
              <a:t>‹#›</a:t>
            </a:fld>
            <a:endParaRPr lang="en-IN"/>
          </a:p>
        </p:txBody>
      </p:sp>
    </p:spTree>
    <p:extLst>
      <p:ext uri="{BB962C8B-B14F-4D97-AF65-F5344CB8AC3E}">
        <p14:creationId xmlns:p14="http://schemas.microsoft.com/office/powerpoint/2010/main" val="141615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5F52C-7A16-4979-947D-2112B036D9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E00F2F1-5D41-43CE-89A0-36AAE36834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DC8A754-5587-41CA-B98B-5CF89E0C7EBD}"/>
              </a:ext>
            </a:extLst>
          </p:cNvPr>
          <p:cNvSpPr>
            <a:spLocks noGrp="1"/>
          </p:cNvSpPr>
          <p:nvPr>
            <p:ph type="dt" sz="half" idx="10"/>
          </p:nvPr>
        </p:nvSpPr>
        <p:spPr/>
        <p:txBody>
          <a:bodyPr/>
          <a:lstStyle/>
          <a:p>
            <a:fld id="{3068BE31-C07E-4766-8323-F2CF35956479}" type="datetimeFigureOut">
              <a:rPr lang="en-IN" smtClean="0"/>
              <a:t>05-06-2026</a:t>
            </a:fld>
            <a:endParaRPr lang="en-IN"/>
          </a:p>
        </p:txBody>
      </p:sp>
      <p:sp>
        <p:nvSpPr>
          <p:cNvPr id="5" name="Footer Placeholder 4">
            <a:extLst>
              <a:ext uri="{FF2B5EF4-FFF2-40B4-BE49-F238E27FC236}">
                <a16:creationId xmlns:a16="http://schemas.microsoft.com/office/drawing/2014/main" id="{64B0631E-4434-4C51-A7D1-0B0E88C9F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8C8E1E-AAF7-449D-A2F9-BDF9BD8D5A59}"/>
              </a:ext>
            </a:extLst>
          </p:cNvPr>
          <p:cNvSpPr>
            <a:spLocks noGrp="1"/>
          </p:cNvSpPr>
          <p:nvPr>
            <p:ph type="sldNum" sz="quarter" idx="12"/>
          </p:nvPr>
        </p:nvSpPr>
        <p:spPr/>
        <p:txBody>
          <a:bodyPr/>
          <a:lstStyle/>
          <a:p>
            <a:fld id="{E69F0354-B745-4BFE-8023-DC5D6558FF85}" type="slidenum">
              <a:rPr lang="en-IN" smtClean="0"/>
              <a:t>‹#›</a:t>
            </a:fld>
            <a:endParaRPr lang="en-IN"/>
          </a:p>
        </p:txBody>
      </p:sp>
    </p:spTree>
    <p:extLst>
      <p:ext uri="{BB962C8B-B14F-4D97-AF65-F5344CB8AC3E}">
        <p14:creationId xmlns:p14="http://schemas.microsoft.com/office/powerpoint/2010/main" val="3847311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50112-647B-45F2-B2F6-B4C82EC363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1505C3-A072-4A73-A741-EFBC9FE2CDC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DC6596-495D-4F02-8FDD-9097BB2CF28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E24A371-5914-4349-A2AD-D0AD32815CAD}"/>
              </a:ext>
            </a:extLst>
          </p:cNvPr>
          <p:cNvSpPr>
            <a:spLocks noGrp="1"/>
          </p:cNvSpPr>
          <p:nvPr>
            <p:ph type="dt" sz="half" idx="10"/>
          </p:nvPr>
        </p:nvSpPr>
        <p:spPr/>
        <p:txBody>
          <a:bodyPr/>
          <a:lstStyle/>
          <a:p>
            <a:fld id="{3068BE31-C07E-4766-8323-F2CF35956479}" type="datetimeFigureOut">
              <a:rPr lang="en-IN" smtClean="0"/>
              <a:t>05-06-2026</a:t>
            </a:fld>
            <a:endParaRPr lang="en-IN"/>
          </a:p>
        </p:txBody>
      </p:sp>
      <p:sp>
        <p:nvSpPr>
          <p:cNvPr id="6" name="Footer Placeholder 5">
            <a:extLst>
              <a:ext uri="{FF2B5EF4-FFF2-40B4-BE49-F238E27FC236}">
                <a16:creationId xmlns:a16="http://schemas.microsoft.com/office/drawing/2014/main" id="{45F4A859-2335-4E53-A97B-2E08D92703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45FBEE-0F65-48AA-9CC0-B71940136F31}"/>
              </a:ext>
            </a:extLst>
          </p:cNvPr>
          <p:cNvSpPr>
            <a:spLocks noGrp="1"/>
          </p:cNvSpPr>
          <p:nvPr>
            <p:ph type="sldNum" sz="quarter" idx="12"/>
          </p:nvPr>
        </p:nvSpPr>
        <p:spPr/>
        <p:txBody>
          <a:bodyPr/>
          <a:lstStyle/>
          <a:p>
            <a:fld id="{E69F0354-B745-4BFE-8023-DC5D6558FF85}" type="slidenum">
              <a:rPr lang="en-IN" smtClean="0"/>
              <a:t>‹#›</a:t>
            </a:fld>
            <a:endParaRPr lang="en-IN"/>
          </a:p>
        </p:txBody>
      </p:sp>
    </p:spTree>
    <p:extLst>
      <p:ext uri="{BB962C8B-B14F-4D97-AF65-F5344CB8AC3E}">
        <p14:creationId xmlns:p14="http://schemas.microsoft.com/office/powerpoint/2010/main" val="504287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C892-F73C-416D-A99B-B1EECB3FB4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F25429-9308-45C2-B4FF-BD695FEC6A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28D13BB-AFF1-4A0C-83EB-E42147A7129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AF5ABB-B19E-4D83-BF1C-CCD6EC9BA2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A838D9E-BAAC-4205-B776-80B8AF546FB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E913A4F-F501-4E1D-9F06-D1AB3B3E61FD}"/>
              </a:ext>
            </a:extLst>
          </p:cNvPr>
          <p:cNvSpPr>
            <a:spLocks noGrp="1"/>
          </p:cNvSpPr>
          <p:nvPr>
            <p:ph type="dt" sz="half" idx="10"/>
          </p:nvPr>
        </p:nvSpPr>
        <p:spPr/>
        <p:txBody>
          <a:bodyPr/>
          <a:lstStyle/>
          <a:p>
            <a:fld id="{3068BE31-C07E-4766-8323-F2CF35956479}" type="datetimeFigureOut">
              <a:rPr lang="en-IN" smtClean="0"/>
              <a:t>05-06-2026</a:t>
            </a:fld>
            <a:endParaRPr lang="en-IN"/>
          </a:p>
        </p:txBody>
      </p:sp>
      <p:sp>
        <p:nvSpPr>
          <p:cNvPr id="8" name="Footer Placeholder 7">
            <a:extLst>
              <a:ext uri="{FF2B5EF4-FFF2-40B4-BE49-F238E27FC236}">
                <a16:creationId xmlns:a16="http://schemas.microsoft.com/office/drawing/2014/main" id="{3C891C97-6FDE-427E-9709-92BD9A46C39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F82D1E-54BE-4D9D-9F19-5EC5616E01B1}"/>
              </a:ext>
            </a:extLst>
          </p:cNvPr>
          <p:cNvSpPr>
            <a:spLocks noGrp="1"/>
          </p:cNvSpPr>
          <p:nvPr>
            <p:ph type="sldNum" sz="quarter" idx="12"/>
          </p:nvPr>
        </p:nvSpPr>
        <p:spPr/>
        <p:txBody>
          <a:bodyPr/>
          <a:lstStyle/>
          <a:p>
            <a:fld id="{E69F0354-B745-4BFE-8023-DC5D6558FF85}" type="slidenum">
              <a:rPr lang="en-IN" smtClean="0"/>
              <a:t>‹#›</a:t>
            </a:fld>
            <a:endParaRPr lang="en-IN"/>
          </a:p>
        </p:txBody>
      </p:sp>
    </p:spTree>
    <p:extLst>
      <p:ext uri="{BB962C8B-B14F-4D97-AF65-F5344CB8AC3E}">
        <p14:creationId xmlns:p14="http://schemas.microsoft.com/office/powerpoint/2010/main" val="3861200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C12B7-9A58-4591-BECB-87A9EE533C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A9C0D8-9A32-446E-BF1C-C30414E9574A}"/>
              </a:ext>
            </a:extLst>
          </p:cNvPr>
          <p:cNvSpPr>
            <a:spLocks noGrp="1"/>
          </p:cNvSpPr>
          <p:nvPr>
            <p:ph type="dt" sz="half" idx="10"/>
          </p:nvPr>
        </p:nvSpPr>
        <p:spPr/>
        <p:txBody>
          <a:bodyPr/>
          <a:lstStyle/>
          <a:p>
            <a:fld id="{3068BE31-C07E-4766-8323-F2CF35956479}" type="datetimeFigureOut">
              <a:rPr lang="en-IN" smtClean="0"/>
              <a:t>05-06-2026</a:t>
            </a:fld>
            <a:endParaRPr lang="en-IN"/>
          </a:p>
        </p:txBody>
      </p:sp>
      <p:sp>
        <p:nvSpPr>
          <p:cNvPr id="4" name="Footer Placeholder 3">
            <a:extLst>
              <a:ext uri="{FF2B5EF4-FFF2-40B4-BE49-F238E27FC236}">
                <a16:creationId xmlns:a16="http://schemas.microsoft.com/office/drawing/2014/main" id="{A726E34B-0DEE-4B96-B68C-D8213BBCCCC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07E2720-5D2B-48F5-8DBA-71828AF94129}"/>
              </a:ext>
            </a:extLst>
          </p:cNvPr>
          <p:cNvSpPr>
            <a:spLocks noGrp="1"/>
          </p:cNvSpPr>
          <p:nvPr>
            <p:ph type="sldNum" sz="quarter" idx="12"/>
          </p:nvPr>
        </p:nvSpPr>
        <p:spPr/>
        <p:txBody>
          <a:bodyPr/>
          <a:lstStyle/>
          <a:p>
            <a:fld id="{E69F0354-B745-4BFE-8023-DC5D6558FF85}" type="slidenum">
              <a:rPr lang="en-IN" smtClean="0"/>
              <a:t>‹#›</a:t>
            </a:fld>
            <a:endParaRPr lang="en-IN"/>
          </a:p>
        </p:txBody>
      </p:sp>
    </p:spTree>
    <p:extLst>
      <p:ext uri="{BB962C8B-B14F-4D97-AF65-F5344CB8AC3E}">
        <p14:creationId xmlns:p14="http://schemas.microsoft.com/office/powerpoint/2010/main" val="164973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1E93B1-DC5D-4F24-8E1A-7BE227ED3685}"/>
              </a:ext>
            </a:extLst>
          </p:cNvPr>
          <p:cNvSpPr>
            <a:spLocks noGrp="1"/>
          </p:cNvSpPr>
          <p:nvPr>
            <p:ph type="dt" sz="half" idx="10"/>
          </p:nvPr>
        </p:nvSpPr>
        <p:spPr/>
        <p:txBody>
          <a:bodyPr/>
          <a:lstStyle/>
          <a:p>
            <a:fld id="{3068BE31-C07E-4766-8323-F2CF35956479}" type="datetimeFigureOut">
              <a:rPr lang="en-IN" smtClean="0"/>
              <a:t>05-06-2026</a:t>
            </a:fld>
            <a:endParaRPr lang="en-IN"/>
          </a:p>
        </p:txBody>
      </p:sp>
      <p:sp>
        <p:nvSpPr>
          <p:cNvPr id="3" name="Footer Placeholder 2">
            <a:extLst>
              <a:ext uri="{FF2B5EF4-FFF2-40B4-BE49-F238E27FC236}">
                <a16:creationId xmlns:a16="http://schemas.microsoft.com/office/drawing/2014/main" id="{14E73705-DEB1-44D7-9FE7-5A6B74E99F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C1B9C0-F562-4F44-9161-AF627BCB2372}"/>
              </a:ext>
            </a:extLst>
          </p:cNvPr>
          <p:cNvSpPr>
            <a:spLocks noGrp="1"/>
          </p:cNvSpPr>
          <p:nvPr>
            <p:ph type="sldNum" sz="quarter" idx="12"/>
          </p:nvPr>
        </p:nvSpPr>
        <p:spPr/>
        <p:txBody>
          <a:bodyPr/>
          <a:lstStyle/>
          <a:p>
            <a:fld id="{E69F0354-B745-4BFE-8023-DC5D6558FF85}" type="slidenum">
              <a:rPr lang="en-IN" smtClean="0"/>
              <a:t>‹#›</a:t>
            </a:fld>
            <a:endParaRPr lang="en-IN"/>
          </a:p>
        </p:txBody>
      </p:sp>
    </p:spTree>
    <p:extLst>
      <p:ext uri="{BB962C8B-B14F-4D97-AF65-F5344CB8AC3E}">
        <p14:creationId xmlns:p14="http://schemas.microsoft.com/office/powerpoint/2010/main" val="1859746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9DBA7-5995-4AEA-93BC-58CBB1CA7C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CB2302F-D3A2-4036-84A0-C446258289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EA2F92D-1459-4E11-85C9-EDF14C944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95E0D0C-4BCE-48BB-9248-EEB67CBC11A4}"/>
              </a:ext>
            </a:extLst>
          </p:cNvPr>
          <p:cNvSpPr>
            <a:spLocks noGrp="1"/>
          </p:cNvSpPr>
          <p:nvPr>
            <p:ph type="dt" sz="half" idx="10"/>
          </p:nvPr>
        </p:nvSpPr>
        <p:spPr/>
        <p:txBody>
          <a:bodyPr/>
          <a:lstStyle/>
          <a:p>
            <a:fld id="{3068BE31-C07E-4766-8323-F2CF35956479}" type="datetimeFigureOut">
              <a:rPr lang="en-IN" smtClean="0"/>
              <a:t>05-06-2026</a:t>
            </a:fld>
            <a:endParaRPr lang="en-IN"/>
          </a:p>
        </p:txBody>
      </p:sp>
      <p:sp>
        <p:nvSpPr>
          <p:cNvPr id="6" name="Footer Placeholder 5">
            <a:extLst>
              <a:ext uri="{FF2B5EF4-FFF2-40B4-BE49-F238E27FC236}">
                <a16:creationId xmlns:a16="http://schemas.microsoft.com/office/drawing/2014/main" id="{EE81103D-9FE9-40DC-B352-559B488415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B92A10-B7B4-4CB0-A443-ED2CB21096CA}"/>
              </a:ext>
            </a:extLst>
          </p:cNvPr>
          <p:cNvSpPr>
            <a:spLocks noGrp="1"/>
          </p:cNvSpPr>
          <p:nvPr>
            <p:ph type="sldNum" sz="quarter" idx="12"/>
          </p:nvPr>
        </p:nvSpPr>
        <p:spPr/>
        <p:txBody>
          <a:bodyPr/>
          <a:lstStyle/>
          <a:p>
            <a:fld id="{E69F0354-B745-4BFE-8023-DC5D6558FF85}" type="slidenum">
              <a:rPr lang="en-IN" smtClean="0"/>
              <a:t>‹#›</a:t>
            </a:fld>
            <a:endParaRPr lang="en-IN"/>
          </a:p>
        </p:txBody>
      </p:sp>
    </p:spTree>
    <p:extLst>
      <p:ext uri="{BB962C8B-B14F-4D97-AF65-F5344CB8AC3E}">
        <p14:creationId xmlns:p14="http://schemas.microsoft.com/office/powerpoint/2010/main" val="3084218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B4877-FA58-4761-A989-FCB79BF36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CA81328-AB24-4DBD-8641-328C55F0C4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7B1F12A-5A3B-4B50-B1B2-468BF0F7D2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18AC511-2CD3-4F7B-88C3-24864C5249F7}"/>
              </a:ext>
            </a:extLst>
          </p:cNvPr>
          <p:cNvSpPr>
            <a:spLocks noGrp="1"/>
          </p:cNvSpPr>
          <p:nvPr>
            <p:ph type="dt" sz="half" idx="10"/>
          </p:nvPr>
        </p:nvSpPr>
        <p:spPr/>
        <p:txBody>
          <a:bodyPr/>
          <a:lstStyle/>
          <a:p>
            <a:fld id="{3068BE31-C07E-4766-8323-F2CF35956479}" type="datetimeFigureOut">
              <a:rPr lang="en-IN" smtClean="0"/>
              <a:t>05-06-2026</a:t>
            </a:fld>
            <a:endParaRPr lang="en-IN"/>
          </a:p>
        </p:txBody>
      </p:sp>
      <p:sp>
        <p:nvSpPr>
          <p:cNvPr id="6" name="Footer Placeholder 5">
            <a:extLst>
              <a:ext uri="{FF2B5EF4-FFF2-40B4-BE49-F238E27FC236}">
                <a16:creationId xmlns:a16="http://schemas.microsoft.com/office/drawing/2014/main" id="{78DFFA15-1ACF-4026-AE6F-081AA98D9B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D739D3-EA18-41A8-82D3-D02ADBE9224F}"/>
              </a:ext>
            </a:extLst>
          </p:cNvPr>
          <p:cNvSpPr>
            <a:spLocks noGrp="1"/>
          </p:cNvSpPr>
          <p:nvPr>
            <p:ph type="sldNum" sz="quarter" idx="12"/>
          </p:nvPr>
        </p:nvSpPr>
        <p:spPr/>
        <p:txBody>
          <a:bodyPr/>
          <a:lstStyle/>
          <a:p>
            <a:fld id="{E69F0354-B745-4BFE-8023-DC5D6558FF85}" type="slidenum">
              <a:rPr lang="en-IN" smtClean="0"/>
              <a:t>‹#›</a:t>
            </a:fld>
            <a:endParaRPr lang="en-IN"/>
          </a:p>
        </p:txBody>
      </p:sp>
    </p:spTree>
    <p:extLst>
      <p:ext uri="{BB962C8B-B14F-4D97-AF65-F5344CB8AC3E}">
        <p14:creationId xmlns:p14="http://schemas.microsoft.com/office/powerpoint/2010/main" val="2564143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C6D94-EE17-4F04-89AF-CE21285C89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AA0757-0297-4B06-9C3E-1B7017E6D3D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30BFF4-BBAD-44D0-A22F-F27AE4A5CBA5}"/>
              </a:ext>
            </a:extLst>
          </p:cNvPr>
          <p:cNvSpPr>
            <a:spLocks noGrp="1"/>
          </p:cNvSpPr>
          <p:nvPr>
            <p:ph type="dt" sz="half" idx="10"/>
          </p:nvPr>
        </p:nvSpPr>
        <p:spPr/>
        <p:txBody>
          <a:bodyPr/>
          <a:lstStyle/>
          <a:p>
            <a:fld id="{3068BE31-C07E-4766-8323-F2CF35956479}" type="datetimeFigureOut">
              <a:rPr lang="en-IN" smtClean="0"/>
              <a:t>05-06-2026</a:t>
            </a:fld>
            <a:endParaRPr lang="en-IN"/>
          </a:p>
        </p:txBody>
      </p:sp>
      <p:sp>
        <p:nvSpPr>
          <p:cNvPr id="5" name="Footer Placeholder 4">
            <a:extLst>
              <a:ext uri="{FF2B5EF4-FFF2-40B4-BE49-F238E27FC236}">
                <a16:creationId xmlns:a16="http://schemas.microsoft.com/office/drawing/2014/main" id="{A5D11F8D-9363-4894-AC00-BDEB7AB5FE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0A8D41-84E6-4708-8159-3BA373AD8FC7}"/>
              </a:ext>
            </a:extLst>
          </p:cNvPr>
          <p:cNvSpPr>
            <a:spLocks noGrp="1"/>
          </p:cNvSpPr>
          <p:nvPr>
            <p:ph type="sldNum" sz="quarter" idx="12"/>
          </p:nvPr>
        </p:nvSpPr>
        <p:spPr/>
        <p:txBody>
          <a:bodyPr/>
          <a:lstStyle/>
          <a:p>
            <a:fld id="{E69F0354-B745-4BFE-8023-DC5D6558FF85}" type="slidenum">
              <a:rPr lang="en-IN" smtClean="0"/>
              <a:t>‹#›</a:t>
            </a:fld>
            <a:endParaRPr lang="en-IN"/>
          </a:p>
        </p:txBody>
      </p:sp>
    </p:spTree>
    <p:extLst>
      <p:ext uri="{BB962C8B-B14F-4D97-AF65-F5344CB8AC3E}">
        <p14:creationId xmlns:p14="http://schemas.microsoft.com/office/powerpoint/2010/main" val="2584664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7A9A0A-46AB-4768-BD49-4CC219D984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600770-7054-4781-883D-A2DF6DA36E3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B83377-7BFC-4EDD-B964-6C287731B80E}"/>
              </a:ext>
            </a:extLst>
          </p:cNvPr>
          <p:cNvSpPr>
            <a:spLocks noGrp="1"/>
          </p:cNvSpPr>
          <p:nvPr>
            <p:ph type="dt" sz="half" idx="10"/>
          </p:nvPr>
        </p:nvSpPr>
        <p:spPr/>
        <p:txBody>
          <a:bodyPr/>
          <a:lstStyle/>
          <a:p>
            <a:fld id="{3068BE31-C07E-4766-8323-F2CF35956479}" type="datetimeFigureOut">
              <a:rPr lang="en-IN" smtClean="0"/>
              <a:t>05-06-2026</a:t>
            </a:fld>
            <a:endParaRPr lang="en-IN"/>
          </a:p>
        </p:txBody>
      </p:sp>
      <p:sp>
        <p:nvSpPr>
          <p:cNvPr id="5" name="Footer Placeholder 4">
            <a:extLst>
              <a:ext uri="{FF2B5EF4-FFF2-40B4-BE49-F238E27FC236}">
                <a16:creationId xmlns:a16="http://schemas.microsoft.com/office/drawing/2014/main" id="{926C8DF8-760D-4CE5-A3EF-ED9FB353B6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04835D-FE2E-4985-98CE-31809880AF01}"/>
              </a:ext>
            </a:extLst>
          </p:cNvPr>
          <p:cNvSpPr>
            <a:spLocks noGrp="1"/>
          </p:cNvSpPr>
          <p:nvPr>
            <p:ph type="sldNum" sz="quarter" idx="12"/>
          </p:nvPr>
        </p:nvSpPr>
        <p:spPr/>
        <p:txBody>
          <a:bodyPr/>
          <a:lstStyle/>
          <a:p>
            <a:fld id="{E69F0354-B745-4BFE-8023-DC5D6558FF85}" type="slidenum">
              <a:rPr lang="en-IN" smtClean="0"/>
              <a:t>‹#›</a:t>
            </a:fld>
            <a:endParaRPr lang="en-IN"/>
          </a:p>
        </p:txBody>
      </p:sp>
    </p:spTree>
    <p:extLst>
      <p:ext uri="{BB962C8B-B14F-4D97-AF65-F5344CB8AC3E}">
        <p14:creationId xmlns:p14="http://schemas.microsoft.com/office/powerpoint/2010/main" val="3850368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2544A6-7739-4B6A-95B2-DBD433C57E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B06A30-7A70-4CA8-8631-DD8484F1DE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09C451-84E9-44DF-895C-200FDFFEF1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68BE31-C07E-4766-8323-F2CF35956479}" type="datetimeFigureOut">
              <a:rPr lang="en-IN" smtClean="0"/>
              <a:t>05-06-2026</a:t>
            </a:fld>
            <a:endParaRPr lang="en-IN"/>
          </a:p>
        </p:txBody>
      </p:sp>
      <p:sp>
        <p:nvSpPr>
          <p:cNvPr id="5" name="Footer Placeholder 4">
            <a:extLst>
              <a:ext uri="{FF2B5EF4-FFF2-40B4-BE49-F238E27FC236}">
                <a16:creationId xmlns:a16="http://schemas.microsoft.com/office/drawing/2014/main" id="{58792A56-C30C-4E48-B487-D65FDF0411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C42CBA9-467B-48DB-88F1-34D3E39604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9F0354-B745-4BFE-8023-DC5D6558FF85}" type="slidenum">
              <a:rPr lang="en-IN" smtClean="0"/>
              <a:t>‹#›</a:t>
            </a:fld>
            <a:endParaRPr lang="en-IN"/>
          </a:p>
        </p:txBody>
      </p:sp>
    </p:spTree>
    <p:extLst>
      <p:ext uri="{BB962C8B-B14F-4D97-AF65-F5344CB8AC3E}">
        <p14:creationId xmlns:p14="http://schemas.microsoft.com/office/powerpoint/2010/main" val="3392836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593192-6609-441C-B916-2A9BAFA3C931}"/>
              </a:ext>
            </a:extLst>
          </p:cNvPr>
          <p:cNvSpPr>
            <a:spLocks noGrp="1"/>
          </p:cNvSpPr>
          <p:nvPr>
            <p:ph type="title"/>
          </p:nvPr>
        </p:nvSpPr>
        <p:spPr/>
        <p:txBody>
          <a:bodyPr>
            <a:normAutofit/>
          </a:bodyPr>
          <a:lstStyle/>
          <a:p>
            <a:pPr algn="ctr"/>
            <a:r>
              <a:rPr lang="en-IN" sz="4000" b="1" dirty="0">
                <a:latin typeface="+mn-lt"/>
              </a:rPr>
              <a:t>Deep-Dive Analysis &amp; Interactive Dashboarding</a:t>
            </a:r>
          </a:p>
        </p:txBody>
      </p:sp>
      <p:sp>
        <p:nvSpPr>
          <p:cNvPr id="5" name="Rectangle 4">
            <a:extLst>
              <a:ext uri="{FF2B5EF4-FFF2-40B4-BE49-F238E27FC236}">
                <a16:creationId xmlns:a16="http://schemas.microsoft.com/office/drawing/2014/main" id="{2E60D074-4628-445E-B93E-5CD6ECD0D093}"/>
              </a:ext>
            </a:extLst>
          </p:cNvPr>
          <p:cNvSpPr/>
          <p:nvPr/>
        </p:nvSpPr>
        <p:spPr>
          <a:xfrm>
            <a:off x="1222625" y="2065106"/>
            <a:ext cx="7921375" cy="861774"/>
          </a:xfrm>
          <a:prstGeom prst="rect">
            <a:avLst/>
          </a:prstGeom>
        </p:spPr>
        <p:txBody>
          <a:bodyPr wrap="square">
            <a:spAutoFit/>
          </a:bodyPr>
          <a:lstStyle/>
          <a:p>
            <a:r>
              <a:rPr lang="en-US" sz="2400" b="1" dirty="0" err="1"/>
              <a:t>ApexPlanet</a:t>
            </a:r>
            <a:r>
              <a:rPr lang="en-US" sz="2400" b="1" dirty="0"/>
              <a:t> Software Pvt. Ltd. Internship</a:t>
            </a:r>
            <a:endParaRPr lang="en-US" sz="2400" dirty="0"/>
          </a:p>
          <a:p>
            <a:r>
              <a:rPr lang="en-US" sz="2400" b="1" dirty="0"/>
              <a:t>Prepared By:</a:t>
            </a:r>
            <a:r>
              <a:rPr lang="en-US" sz="2400" dirty="0"/>
              <a:t> Madhav Gorla</a:t>
            </a:r>
          </a:p>
        </p:txBody>
      </p:sp>
    </p:spTree>
    <p:extLst>
      <p:ext uri="{BB962C8B-B14F-4D97-AF65-F5344CB8AC3E}">
        <p14:creationId xmlns:p14="http://schemas.microsoft.com/office/powerpoint/2010/main" val="985692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A4C62-F3AA-4057-8278-483EFDB62E9E}"/>
              </a:ext>
            </a:extLst>
          </p:cNvPr>
          <p:cNvSpPr>
            <a:spLocks noGrp="1"/>
          </p:cNvSpPr>
          <p:nvPr>
            <p:ph type="title"/>
          </p:nvPr>
        </p:nvSpPr>
        <p:spPr/>
        <p:txBody>
          <a:bodyPr>
            <a:normAutofit/>
          </a:bodyPr>
          <a:lstStyle/>
          <a:p>
            <a:pPr algn="ctr"/>
            <a:r>
              <a:rPr lang="en-IN" sz="5400" b="1" dirty="0"/>
              <a:t>Project Objective</a:t>
            </a:r>
          </a:p>
        </p:txBody>
      </p:sp>
      <p:sp>
        <p:nvSpPr>
          <p:cNvPr id="3" name="Rectangle 2">
            <a:extLst>
              <a:ext uri="{FF2B5EF4-FFF2-40B4-BE49-F238E27FC236}">
                <a16:creationId xmlns:a16="http://schemas.microsoft.com/office/drawing/2014/main" id="{AE8954DE-6BF9-4842-926B-107C5040A996}"/>
              </a:ext>
            </a:extLst>
          </p:cNvPr>
          <p:cNvSpPr/>
          <p:nvPr/>
        </p:nvSpPr>
        <p:spPr>
          <a:xfrm>
            <a:off x="503434" y="1530848"/>
            <a:ext cx="11688566" cy="2000548"/>
          </a:xfrm>
          <a:prstGeom prst="rect">
            <a:avLst/>
          </a:prstGeom>
        </p:spPr>
        <p:txBody>
          <a:bodyPr wrap="square">
            <a:spAutoFit/>
          </a:bodyPr>
          <a:lstStyle/>
          <a:p>
            <a:r>
              <a:rPr lang="en-US" sz="2800" b="1" dirty="0"/>
              <a:t>Objective :</a:t>
            </a:r>
            <a:endParaRPr lang="en-US" sz="2800" dirty="0"/>
          </a:p>
          <a:p>
            <a:pPr marL="457200" indent="-457200">
              <a:buFont typeface="Wingdings" panose="05000000000000000000" pitchFamily="2" charset="2"/>
              <a:buChar char="ü"/>
            </a:pPr>
            <a:r>
              <a:rPr lang="en-US" sz="2400" dirty="0"/>
              <a:t>Transform analytical findings into a business story. </a:t>
            </a:r>
          </a:p>
          <a:p>
            <a:pPr marL="457200" indent="-457200">
              <a:buFont typeface="Wingdings" panose="05000000000000000000" pitchFamily="2" charset="2"/>
              <a:buChar char="ü"/>
            </a:pPr>
            <a:r>
              <a:rPr lang="en-US" sz="2400" dirty="0"/>
              <a:t>Validate findings using statistical methods. </a:t>
            </a:r>
          </a:p>
          <a:p>
            <a:pPr marL="457200" indent="-457200">
              <a:buFont typeface="Wingdings" panose="05000000000000000000" pitchFamily="2" charset="2"/>
              <a:buChar char="ü"/>
            </a:pPr>
            <a:r>
              <a:rPr lang="en-US" sz="2400" dirty="0"/>
              <a:t>Provide actionable business recommendations. </a:t>
            </a:r>
          </a:p>
          <a:p>
            <a:pPr marL="457200" indent="-457200">
              <a:buFont typeface="Wingdings" panose="05000000000000000000" pitchFamily="2" charset="2"/>
              <a:buChar char="ü"/>
            </a:pPr>
            <a:r>
              <a:rPr lang="en-US" sz="2400" dirty="0"/>
              <a:t>Support data-driven decision making. </a:t>
            </a:r>
          </a:p>
        </p:txBody>
      </p:sp>
    </p:spTree>
    <p:extLst>
      <p:ext uri="{BB962C8B-B14F-4D97-AF65-F5344CB8AC3E}">
        <p14:creationId xmlns:p14="http://schemas.microsoft.com/office/powerpoint/2010/main" val="210665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072C-CE6F-4C69-850A-DCCEA7093A7B}"/>
              </a:ext>
            </a:extLst>
          </p:cNvPr>
          <p:cNvSpPr>
            <a:spLocks noGrp="1"/>
          </p:cNvSpPr>
          <p:nvPr>
            <p:ph type="title"/>
          </p:nvPr>
        </p:nvSpPr>
        <p:spPr>
          <a:xfrm>
            <a:off x="838200" y="195209"/>
            <a:ext cx="10515600" cy="1495479"/>
          </a:xfrm>
        </p:spPr>
        <p:txBody>
          <a:bodyPr>
            <a:normAutofit/>
          </a:bodyPr>
          <a:lstStyle/>
          <a:p>
            <a:pPr algn="ctr"/>
            <a:r>
              <a:rPr lang="en-IN" sz="5400" b="1" u="sng" dirty="0">
                <a:latin typeface="Bahnschrift" panose="020B0502040204020203" pitchFamily="34" charset="0"/>
              </a:rPr>
              <a:t>KPI </a:t>
            </a:r>
            <a:r>
              <a:rPr lang="en-IN" sz="5400" u="sng" dirty="0">
                <a:latin typeface="Bahnschrift" panose="020B0502040204020203" pitchFamily="34" charset="0"/>
              </a:rPr>
              <a:t>Dashboard</a:t>
            </a:r>
          </a:p>
        </p:txBody>
      </p:sp>
      <p:sp>
        <p:nvSpPr>
          <p:cNvPr id="3" name="Rectangle 2">
            <a:extLst>
              <a:ext uri="{FF2B5EF4-FFF2-40B4-BE49-F238E27FC236}">
                <a16:creationId xmlns:a16="http://schemas.microsoft.com/office/drawing/2014/main" id="{E6ECE497-21D3-41B7-A1A8-BD3E578361FF}"/>
              </a:ext>
            </a:extLst>
          </p:cNvPr>
          <p:cNvSpPr/>
          <p:nvPr/>
        </p:nvSpPr>
        <p:spPr>
          <a:xfrm>
            <a:off x="441789" y="1541124"/>
            <a:ext cx="11578975" cy="4493538"/>
          </a:xfrm>
          <a:prstGeom prst="rect">
            <a:avLst/>
          </a:prstGeom>
        </p:spPr>
        <p:txBody>
          <a:bodyPr wrap="square">
            <a:spAutoFit/>
          </a:bodyPr>
          <a:lstStyle/>
          <a:p>
            <a:r>
              <a:rPr lang="en-US" sz="3200" b="1" dirty="0">
                <a:latin typeface="Arial Black" panose="020B0A04020102020204" pitchFamily="34" charset="0"/>
              </a:rPr>
              <a:t>Project Overview</a:t>
            </a:r>
          </a:p>
          <a:p>
            <a:r>
              <a:rPr lang="en-US" sz="2800" dirty="0"/>
              <a:t>This project focuses on performing Exploratory Data Analysis (EDA) on a sales dataset to identify patterns, trends, and business insights. Various visualization techniques were used to understand customer behavior, product performance, and sales distribution.</a:t>
            </a:r>
          </a:p>
          <a:p>
            <a:endParaRPr lang="en-US" dirty="0"/>
          </a:p>
          <a:p>
            <a:r>
              <a:rPr lang="en-US" sz="2800" b="1" dirty="0">
                <a:latin typeface="Arial Black" panose="020B0A04020102020204" pitchFamily="34" charset="0"/>
              </a:rPr>
              <a:t>Key Performance Indicators</a:t>
            </a:r>
          </a:p>
          <a:p>
            <a:pPr marL="342900" indent="-342900">
              <a:buFont typeface="Wingdings" panose="05000000000000000000" pitchFamily="2" charset="2"/>
              <a:buChar char="q"/>
            </a:pPr>
            <a:r>
              <a:rPr lang="en-US" sz="2400" dirty="0"/>
              <a:t>Total Revenue: 10,032,628.85 </a:t>
            </a:r>
          </a:p>
          <a:p>
            <a:pPr marL="342900" indent="-342900">
              <a:buFont typeface="Wingdings" panose="05000000000000000000" pitchFamily="2" charset="2"/>
              <a:buChar char="q"/>
            </a:pPr>
            <a:r>
              <a:rPr lang="en-US" sz="2400" dirty="0"/>
              <a:t>Average Sales: 3,553.89 </a:t>
            </a:r>
          </a:p>
          <a:p>
            <a:pPr marL="342900" indent="-342900">
              <a:buFont typeface="Wingdings" panose="05000000000000000000" pitchFamily="2" charset="2"/>
              <a:buChar char="q"/>
            </a:pPr>
            <a:r>
              <a:rPr lang="en-US" sz="2400" dirty="0"/>
              <a:t>Total Orders: 307 </a:t>
            </a:r>
          </a:p>
          <a:p>
            <a:pPr marL="342900" indent="-342900">
              <a:buFont typeface="Wingdings" panose="05000000000000000000" pitchFamily="2" charset="2"/>
              <a:buChar char="q"/>
            </a:pPr>
            <a:r>
              <a:rPr lang="en-US" sz="2400" dirty="0"/>
              <a:t>Total Customers: 92</a:t>
            </a:r>
          </a:p>
        </p:txBody>
      </p:sp>
      <p:pic>
        <p:nvPicPr>
          <p:cNvPr id="5" name="Picture 4">
            <a:extLst>
              <a:ext uri="{FF2B5EF4-FFF2-40B4-BE49-F238E27FC236}">
                <a16:creationId xmlns:a16="http://schemas.microsoft.com/office/drawing/2014/main" id="{079F0776-15F3-4476-AA07-77CD4E4CDB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2417" y="4447839"/>
            <a:ext cx="6864277" cy="2410161"/>
          </a:xfrm>
          <a:prstGeom prst="rect">
            <a:avLst/>
          </a:prstGeom>
        </p:spPr>
      </p:pic>
    </p:spTree>
    <p:extLst>
      <p:ext uri="{BB962C8B-B14F-4D97-AF65-F5344CB8AC3E}">
        <p14:creationId xmlns:p14="http://schemas.microsoft.com/office/powerpoint/2010/main" val="3917897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C28D4-61C3-4CB7-BE10-474C97A05989}"/>
              </a:ext>
            </a:extLst>
          </p:cNvPr>
          <p:cNvSpPr>
            <a:spLocks noGrp="1"/>
          </p:cNvSpPr>
          <p:nvPr>
            <p:ph type="title"/>
          </p:nvPr>
        </p:nvSpPr>
        <p:spPr>
          <a:xfrm>
            <a:off x="838200" y="652801"/>
            <a:ext cx="10515600" cy="1325563"/>
          </a:xfrm>
        </p:spPr>
        <p:txBody>
          <a:bodyPr>
            <a:normAutofit/>
          </a:bodyPr>
          <a:lstStyle/>
          <a:p>
            <a:pPr algn="ctr"/>
            <a:r>
              <a:rPr lang="en-IN" sz="5400" b="1" dirty="0"/>
              <a:t>Business Story</a:t>
            </a:r>
          </a:p>
        </p:txBody>
      </p:sp>
      <p:sp>
        <p:nvSpPr>
          <p:cNvPr id="3" name="Rectangle 2">
            <a:extLst>
              <a:ext uri="{FF2B5EF4-FFF2-40B4-BE49-F238E27FC236}">
                <a16:creationId xmlns:a16="http://schemas.microsoft.com/office/drawing/2014/main" id="{64F8271E-2AD9-40CB-A579-78C6F2307879}"/>
              </a:ext>
            </a:extLst>
          </p:cNvPr>
          <p:cNvSpPr/>
          <p:nvPr/>
        </p:nvSpPr>
        <p:spPr>
          <a:xfrm>
            <a:off x="729465" y="1978364"/>
            <a:ext cx="8414535" cy="1938992"/>
          </a:xfrm>
          <a:prstGeom prst="rect">
            <a:avLst/>
          </a:prstGeom>
        </p:spPr>
        <p:txBody>
          <a:bodyPr wrap="square">
            <a:spAutoFit/>
          </a:bodyPr>
          <a:lstStyle/>
          <a:p>
            <a:r>
              <a:rPr lang="en-US" sz="2400" b="1" dirty="0"/>
              <a:t>What We Wanted to Understand</a:t>
            </a:r>
            <a:endParaRPr lang="en-US" sz="2400" dirty="0"/>
          </a:p>
          <a:p>
            <a:pPr marL="342900" indent="-342900">
              <a:buFont typeface="Wingdings" panose="05000000000000000000" pitchFamily="2" charset="2"/>
              <a:buChar char="Ø"/>
            </a:pPr>
            <a:r>
              <a:rPr lang="en-US" sz="2400" dirty="0"/>
              <a:t>Which products drive revenue? </a:t>
            </a:r>
          </a:p>
          <a:p>
            <a:pPr marL="342900" indent="-342900">
              <a:buFont typeface="Wingdings" panose="05000000000000000000" pitchFamily="2" charset="2"/>
              <a:buChar char="Ø"/>
            </a:pPr>
            <a:r>
              <a:rPr lang="en-US" sz="2400" dirty="0"/>
              <a:t>What factors influence sales? </a:t>
            </a:r>
          </a:p>
          <a:p>
            <a:pPr marL="342900" indent="-342900">
              <a:buFont typeface="Wingdings" panose="05000000000000000000" pitchFamily="2" charset="2"/>
              <a:buChar char="Ø"/>
            </a:pPr>
            <a:r>
              <a:rPr lang="en-US" sz="2400" dirty="0"/>
              <a:t>How can business performance be improved? </a:t>
            </a:r>
          </a:p>
          <a:p>
            <a:pPr marL="342900" indent="-342900">
              <a:buFont typeface="Wingdings" panose="05000000000000000000" pitchFamily="2" charset="2"/>
              <a:buChar char="Ø"/>
            </a:pPr>
            <a:r>
              <a:rPr lang="en-US" sz="2400" dirty="0"/>
              <a:t>Which customer segments contribute most?</a:t>
            </a:r>
          </a:p>
        </p:txBody>
      </p:sp>
    </p:spTree>
    <p:extLst>
      <p:ext uri="{BB962C8B-B14F-4D97-AF65-F5344CB8AC3E}">
        <p14:creationId xmlns:p14="http://schemas.microsoft.com/office/powerpoint/2010/main" val="510202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43A34-EE2E-48E3-96E2-F000A5FAD680}"/>
              </a:ext>
            </a:extLst>
          </p:cNvPr>
          <p:cNvSpPr>
            <a:spLocks noGrp="1"/>
          </p:cNvSpPr>
          <p:nvPr>
            <p:ph type="title"/>
          </p:nvPr>
        </p:nvSpPr>
        <p:spPr>
          <a:xfrm>
            <a:off x="534256" y="1"/>
            <a:ext cx="10819544" cy="1690688"/>
          </a:xfrm>
        </p:spPr>
        <p:txBody>
          <a:bodyPr>
            <a:normAutofit/>
          </a:bodyPr>
          <a:lstStyle/>
          <a:p>
            <a:pPr algn="ctr"/>
            <a:r>
              <a:rPr lang="en-IN" sz="5400" b="1" u="sng" dirty="0">
                <a:latin typeface="Bahnschrift" panose="020B0502040204020203" pitchFamily="34" charset="0"/>
              </a:rPr>
              <a:t>Product Line Distribution Analysis</a:t>
            </a:r>
          </a:p>
        </p:txBody>
      </p:sp>
      <p:sp>
        <p:nvSpPr>
          <p:cNvPr id="3" name="Rectangle 2">
            <a:extLst>
              <a:ext uri="{FF2B5EF4-FFF2-40B4-BE49-F238E27FC236}">
                <a16:creationId xmlns:a16="http://schemas.microsoft.com/office/drawing/2014/main" id="{32EA6D48-855E-4735-A45D-404D0E11A75B}"/>
              </a:ext>
            </a:extLst>
          </p:cNvPr>
          <p:cNvSpPr/>
          <p:nvPr/>
        </p:nvSpPr>
        <p:spPr>
          <a:xfrm>
            <a:off x="287677" y="1325367"/>
            <a:ext cx="11784458" cy="3662541"/>
          </a:xfrm>
          <a:prstGeom prst="rect">
            <a:avLst/>
          </a:prstGeom>
        </p:spPr>
        <p:txBody>
          <a:bodyPr wrap="square">
            <a:spAutoFit/>
          </a:bodyPr>
          <a:lstStyle/>
          <a:p>
            <a:r>
              <a:rPr lang="en-US" sz="3200" b="1" dirty="0"/>
              <a:t>Analysis</a:t>
            </a:r>
          </a:p>
          <a:p>
            <a:r>
              <a:rPr lang="en-US" sz="2400" dirty="0"/>
              <a:t>The Product Line Distribution chart shows the number of orders across different product categories. Classic Cars recorded the highest number of sales transactions, making it the most popular product line. Trains recorded the lowest number of transactions.</a:t>
            </a:r>
          </a:p>
          <a:p>
            <a:endParaRPr lang="en-US" sz="2400" dirty="0"/>
          </a:p>
          <a:p>
            <a:r>
              <a:rPr lang="en-US" sz="3200" b="1" dirty="0"/>
              <a:t>Key Insight</a:t>
            </a:r>
          </a:p>
          <a:p>
            <a:pPr marL="342900" indent="-342900">
              <a:buFont typeface="Wingdings" panose="05000000000000000000" pitchFamily="2" charset="2"/>
              <a:buChar char="§"/>
            </a:pPr>
            <a:r>
              <a:rPr lang="en-US" sz="2400" dirty="0"/>
              <a:t>Classic Cars is the top-performing category. </a:t>
            </a:r>
          </a:p>
          <a:p>
            <a:pPr marL="342900" indent="-342900">
              <a:buFont typeface="Wingdings" panose="05000000000000000000" pitchFamily="2" charset="2"/>
              <a:buChar char="§"/>
            </a:pPr>
            <a:r>
              <a:rPr lang="en-US" sz="2400" dirty="0"/>
              <a:t>Vintage Cars also contribute significantly. </a:t>
            </a:r>
          </a:p>
          <a:p>
            <a:pPr marL="342900" indent="-342900">
              <a:buFont typeface="Wingdings" panose="05000000000000000000" pitchFamily="2" charset="2"/>
              <a:buChar char="§"/>
            </a:pPr>
            <a:r>
              <a:rPr lang="en-US" sz="2400" dirty="0"/>
              <a:t>Trains have the lowest demand.</a:t>
            </a:r>
          </a:p>
        </p:txBody>
      </p:sp>
      <p:pic>
        <p:nvPicPr>
          <p:cNvPr id="5" name="Picture 4">
            <a:extLst>
              <a:ext uri="{FF2B5EF4-FFF2-40B4-BE49-F238E27FC236}">
                <a16:creationId xmlns:a16="http://schemas.microsoft.com/office/drawing/2014/main" id="{DCE81689-CBF4-4B98-BF5C-2A89F08D66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9560" y="3016054"/>
            <a:ext cx="6719298" cy="3754615"/>
          </a:xfrm>
          <a:prstGeom prst="rect">
            <a:avLst/>
          </a:prstGeom>
        </p:spPr>
      </p:pic>
    </p:spTree>
    <p:extLst>
      <p:ext uri="{BB962C8B-B14F-4D97-AF65-F5344CB8AC3E}">
        <p14:creationId xmlns:p14="http://schemas.microsoft.com/office/powerpoint/2010/main" val="1138700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D3D24-A7D2-4D68-B071-E6BCA4F5CA55}"/>
              </a:ext>
            </a:extLst>
          </p:cNvPr>
          <p:cNvSpPr>
            <a:spLocks noGrp="1"/>
          </p:cNvSpPr>
          <p:nvPr>
            <p:ph type="title"/>
          </p:nvPr>
        </p:nvSpPr>
        <p:spPr/>
        <p:txBody>
          <a:bodyPr>
            <a:normAutofit/>
          </a:bodyPr>
          <a:lstStyle/>
          <a:p>
            <a:pPr algn="ctr"/>
            <a:r>
              <a:rPr lang="en-IN" sz="5400" b="1" u="sng" dirty="0"/>
              <a:t>Sales Distribution Analysis</a:t>
            </a:r>
          </a:p>
        </p:txBody>
      </p:sp>
      <p:sp>
        <p:nvSpPr>
          <p:cNvPr id="3" name="Rectangle 2">
            <a:extLst>
              <a:ext uri="{FF2B5EF4-FFF2-40B4-BE49-F238E27FC236}">
                <a16:creationId xmlns:a16="http://schemas.microsoft.com/office/drawing/2014/main" id="{71901C92-9B27-47C3-B719-B70850615138}"/>
              </a:ext>
            </a:extLst>
          </p:cNvPr>
          <p:cNvSpPr/>
          <p:nvPr/>
        </p:nvSpPr>
        <p:spPr>
          <a:xfrm>
            <a:off x="482885" y="1690688"/>
            <a:ext cx="11609798" cy="3970318"/>
          </a:xfrm>
          <a:prstGeom prst="rect">
            <a:avLst/>
          </a:prstGeom>
        </p:spPr>
        <p:txBody>
          <a:bodyPr wrap="square">
            <a:spAutoFit/>
          </a:bodyPr>
          <a:lstStyle/>
          <a:p>
            <a:r>
              <a:rPr lang="en-US" sz="3200" b="1" dirty="0"/>
              <a:t>Analysis</a:t>
            </a:r>
          </a:p>
          <a:p>
            <a:r>
              <a:rPr lang="en-US" sz="2400" dirty="0"/>
              <a:t>The histogram illustrates the distribution of sales transactions across the dataset. Most sales values fall between 2,000 and 5,000, indicating that medium-value transactions contribute significantly to overall revenue. A few high-value transactions create a right-skewed distribution.</a:t>
            </a:r>
          </a:p>
          <a:p>
            <a:endParaRPr lang="en-US" sz="2400" dirty="0"/>
          </a:p>
          <a:p>
            <a:r>
              <a:rPr lang="en-US" sz="2800" b="1" dirty="0"/>
              <a:t>Key Insight</a:t>
            </a:r>
          </a:p>
          <a:p>
            <a:pPr marL="342900" indent="-342900">
              <a:buFont typeface="Wingdings" panose="05000000000000000000" pitchFamily="2" charset="2"/>
              <a:buChar char="Ø"/>
            </a:pPr>
            <a:r>
              <a:rPr lang="en-US" sz="2400" dirty="0"/>
              <a:t>Majority of transactions are medium-sized. </a:t>
            </a:r>
          </a:p>
          <a:p>
            <a:pPr marL="342900" indent="-342900">
              <a:buFont typeface="Wingdings" panose="05000000000000000000" pitchFamily="2" charset="2"/>
              <a:buChar char="Ø"/>
            </a:pPr>
            <a:r>
              <a:rPr lang="en-US" sz="2400" dirty="0"/>
              <a:t>High-value transactions occur less frequently. </a:t>
            </a:r>
          </a:p>
          <a:p>
            <a:pPr marL="342900" indent="-342900">
              <a:buFont typeface="Wingdings" panose="05000000000000000000" pitchFamily="2" charset="2"/>
              <a:buChar char="Ø"/>
            </a:pPr>
            <a:r>
              <a:rPr lang="en-US" sz="2400" dirty="0"/>
              <a:t>Sales distribution is positively skewed.</a:t>
            </a:r>
          </a:p>
        </p:txBody>
      </p:sp>
      <p:pic>
        <p:nvPicPr>
          <p:cNvPr id="5" name="Picture 4">
            <a:extLst>
              <a:ext uri="{FF2B5EF4-FFF2-40B4-BE49-F238E27FC236}">
                <a16:creationId xmlns:a16="http://schemas.microsoft.com/office/drawing/2014/main" id="{2522695B-AAE7-47F6-BC9E-578FB6F888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5460" y="3257014"/>
            <a:ext cx="6020657" cy="3600986"/>
          </a:xfrm>
          <a:prstGeom prst="rect">
            <a:avLst/>
          </a:prstGeom>
        </p:spPr>
      </p:pic>
    </p:spTree>
    <p:extLst>
      <p:ext uri="{BB962C8B-B14F-4D97-AF65-F5344CB8AC3E}">
        <p14:creationId xmlns:p14="http://schemas.microsoft.com/office/powerpoint/2010/main" val="3205956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9F3DA-75DD-4B91-B5E9-092E8E89A7FD}"/>
              </a:ext>
            </a:extLst>
          </p:cNvPr>
          <p:cNvSpPr>
            <a:spLocks noGrp="1"/>
          </p:cNvSpPr>
          <p:nvPr>
            <p:ph type="title"/>
          </p:nvPr>
        </p:nvSpPr>
        <p:spPr>
          <a:xfrm>
            <a:off x="838200" y="1"/>
            <a:ext cx="10515600" cy="1078786"/>
          </a:xfrm>
        </p:spPr>
        <p:txBody>
          <a:bodyPr>
            <a:normAutofit/>
          </a:bodyPr>
          <a:lstStyle/>
          <a:p>
            <a:pPr algn="ctr"/>
            <a:r>
              <a:rPr lang="en-IN" sz="6000" u="sng" dirty="0">
                <a:latin typeface="Arial" panose="020B0604020202020204" pitchFamily="34" charset="0"/>
                <a:cs typeface="Arial" panose="020B0604020202020204" pitchFamily="34" charset="0"/>
              </a:rPr>
              <a:t>Correlation Analysis</a:t>
            </a:r>
          </a:p>
        </p:txBody>
      </p:sp>
      <p:sp>
        <p:nvSpPr>
          <p:cNvPr id="3" name="Rectangle 2">
            <a:extLst>
              <a:ext uri="{FF2B5EF4-FFF2-40B4-BE49-F238E27FC236}">
                <a16:creationId xmlns:a16="http://schemas.microsoft.com/office/drawing/2014/main" id="{47798F2E-341B-45D7-A6DF-F35ADD560F92}"/>
              </a:ext>
            </a:extLst>
          </p:cNvPr>
          <p:cNvSpPr/>
          <p:nvPr/>
        </p:nvSpPr>
        <p:spPr>
          <a:xfrm>
            <a:off x="236306" y="1191802"/>
            <a:ext cx="11955694" cy="3662541"/>
          </a:xfrm>
          <a:prstGeom prst="rect">
            <a:avLst/>
          </a:prstGeom>
        </p:spPr>
        <p:txBody>
          <a:bodyPr wrap="square">
            <a:spAutoFit/>
          </a:bodyPr>
          <a:lstStyle/>
          <a:p>
            <a:r>
              <a:rPr lang="en-US" sz="3200" b="1" dirty="0"/>
              <a:t>Analysis</a:t>
            </a:r>
          </a:p>
          <a:p>
            <a:r>
              <a:rPr lang="en-US" sz="2400" dirty="0"/>
              <a:t>The heatmap visualizes relationships between numerical variables. Sales show a strong positive correlation with Total Value, MSRP, and Quantity Ordered. These variables play a crucial role in revenue generation.</a:t>
            </a:r>
          </a:p>
          <a:p>
            <a:r>
              <a:rPr lang="en-US" sz="3200" b="1" dirty="0"/>
              <a:t>Key Insight</a:t>
            </a:r>
          </a:p>
          <a:p>
            <a:pPr>
              <a:buFont typeface="Arial" panose="020B0604020202020204" pitchFamily="34" charset="0"/>
              <a:buChar char="•"/>
            </a:pPr>
            <a:r>
              <a:rPr lang="en-US" sz="2400" dirty="0"/>
              <a:t>Sales and Total Value have a very strong</a:t>
            </a:r>
          </a:p>
          <a:p>
            <a:r>
              <a:rPr lang="en-US" sz="2400" dirty="0"/>
              <a:t>  relationship. </a:t>
            </a:r>
          </a:p>
          <a:p>
            <a:pPr>
              <a:buFont typeface="Arial" panose="020B0604020202020204" pitchFamily="34" charset="0"/>
              <a:buChar char="•"/>
            </a:pPr>
            <a:r>
              <a:rPr lang="en-US" sz="2400" dirty="0"/>
              <a:t>Quantity Ordered positively impacts Sales. </a:t>
            </a:r>
          </a:p>
          <a:p>
            <a:pPr>
              <a:buFont typeface="Arial" panose="020B0604020202020204" pitchFamily="34" charset="0"/>
              <a:buChar char="•"/>
            </a:pPr>
            <a:r>
              <a:rPr lang="en-US" sz="2400" dirty="0"/>
              <a:t>Pricing variables influence revenue growth.</a:t>
            </a:r>
          </a:p>
        </p:txBody>
      </p:sp>
      <p:pic>
        <p:nvPicPr>
          <p:cNvPr id="5" name="Picture 4">
            <a:extLst>
              <a:ext uri="{FF2B5EF4-FFF2-40B4-BE49-F238E27FC236}">
                <a16:creationId xmlns:a16="http://schemas.microsoft.com/office/drawing/2014/main" id="{B33927AB-F8E2-40C5-AD29-B4B2752EF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1603" y="2589087"/>
            <a:ext cx="6911093" cy="4268911"/>
          </a:xfrm>
          <a:prstGeom prst="rect">
            <a:avLst/>
          </a:prstGeom>
        </p:spPr>
      </p:pic>
    </p:spTree>
    <p:extLst>
      <p:ext uri="{BB962C8B-B14F-4D97-AF65-F5344CB8AC3E}">
        <p14:creationId xmlns:p14="http://schemas.microsoft.com/office/powerpoint/2010/main" val="2570516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14CC-660E-467D-904C-A5625722C364}"/>
              </a:ext>
            </a:extLst>
          </p:cNvPr>
          <p:cNvSpPr>
            <a:spLocks noGrp="1"/>
          </p:cNvSpPr>
          <p:nvPr>
            <p:ph type="title"/>
          </p:nvPr>
        </p:nvSpPr>
        <p:spPr/>
        <p:txBody>
          <a:bodyPr>
            <a:normAutofit/>
          </a:bodyPr>
          <a:lstStyle/>
          <a:p>
            <a:pPr algn="ctr"/>
            <a:r>
              <a:rPr lang="en-IN" sz="5400" b="1" dirty="0"/>
              <a:t>Statistical Validation</a:t>
            </a:r>
          </a:p>
        </p:txBody>
      </p:sp>
      <p:sp>
        <p:nvSpPr>
          <p:cNvPr id="3" name="Rectangle 2">
            <a:extLst>
              <a:ext uri="{FF2B5EF4-FFF2-40B4-BE49-F238E27FC236}">
                <a16:creationId xmlns:a16="http://schemas.microsoft.com/office/drawing/2014/main" id="{7BE57102-5029-4C0C-9684-6C28418B6B1B}"/>
              </a:ext>
            </a:extLst>
          </p:cNvPr>
          <p:cNvSpPr/>
          <p:nvPr/>
        </p:nvSpPr>
        <p:spPr>
          <a:xfrm>
            <a:off x="575353" y="1561671"/>
            <a:ext cx="11352944" cy="4524315"/>
          </a:xfrm>
          <a:prstGeom prst="rect">
            <a:avLst/>
          </a:prstGeom>
        </p:spPr>
        <p:txBody>
          <a:bodyPr wrap="square">
            <a:spAutoFit/>
          </a:bodyPr>
          <a:lstStyle/>
          <a:p>
            <a:r>
              <a:rPr lang="en-US" sz="2400" b="1" dirty="0"/>
              <a:t>Hypothesis Testing</a:t>
            </a:r>
          </a:p>
          <a:p>
            <a:endParaRPr lang="en-US" sz="2400" dirty="0"/>
          </a:p>
          <a:p>
            <a:r>
              <a:rPr lang="en-US" sz="2400" b="1" dirty="0"/>
              <a:t>Null Hypothesis (H₀):</a:t>
            </a:r>
            <a:br>
              <a:rPr lang="en-US" sz="2400" dirty="0"/>
            </a:br>
            <a:r>
              <a:rPr lang="en-US" sz="2400" dirty="0"/>
              <a:t>There is no relationship between Quantity Ordered and Sales Revenue.</a:t>
            </a:r>
          </a:p>
          <a:p>
            <a:endParaRPr lang="en-US" sz="2400" dirty="0"/>
          </a:p>
          <a:p>
            <a:r>
              <a:rPr lang="en-US" sz="2400" b="1" dirty="0"/>
              <a:t>Alternative Hypothesis (H₁):</a:t>
            </a:r>
            <a:br>
              <a:rPr lang="en-US" sz="2400" dirty="0"/>
            </a:br>
            <a:r>
              <a:rPr lang="en-US" sz="2400" dirty="0"/>
              <a:t>There is a significant relationship between Quantity Ordered and Sales Revenue.</a:t>
            </a:r>
          </a:p>
          <a:p>
            <a:endParaRPr lang="en-US" sz="2400" dirty="0"/>
          </a:p>
          <a:p>
            <a:r>
              <a:rPr lang="en-US" sz="2400" b="1" dirty="0"/>
              <a:t>Result</a:t>
            </a:r>
            <a:endParaRPr lang="en-US" sz="2400" dirty="0"/>
          </a:p>
          <a:p>
            <a:pPr marL="342900" indent="-342900">
              <a:buFont typeface="Wingdings" panose="05000000000000000000" pitchFamily="2" charset="2"/>
              <a:buChar char="§"/>
            </a:pPr>
            <a:r>
              <a:rPr lang="en-US" sz="2400" dirty="0"/>
              <a:t>Positive Correlation Found </a:t>
            </a:r>
          </a:p>
          <a:p>
            <a:pPr marL="342900" indent="-342900">
              <a:buFont typeface="Wingdings" panose="05000000000000000000" pitchFamily="2" charset="2"/>
              <a:buChar char="§"/>
            </a:pPr>
            <a:r>
              <a:rPr lang="en-US" sz="2400" dirty="0"/>
              <a:t>P-value &lt; 0.05 </a:t>
            </a:r>
          </a:p>
          <a:p>
            <a:pPr marL="342900" indent="-342900">
              <a:buFont typeface="Wingdings" panose="05000000000000000000" pitchFamily="2" charset="2"/>
              <a:buChar char="§"/>
            </a:pPr>
            <a:r>
              <a:rPr lang="en-US" sz="2400" dirty="0"/>
              <a:t>Reject H₀</a:t>
            </a:r>
          </a:p>
        </p:txBody>
      </p:sp>
    </p:spTree>
    <p:extLst>
      <p:ext uri="{BB962C8B-B14F-4D97-AF65-F5344CB8AC3E}">
        <p14:creationId xmlns:p14="http://schemas.microsoft.com/office/powerpoint/2010/main" val="2519644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E91B3-6294-4376-BF51-CC1D6B573655}"/>
              </a:ext>
            </a:extLst>
          </p:cNvPr>
          <p:cNvSpPr>
            <a:spLocks noGrp="1"/>
          </p:cNvSpPr>
          <p:nvPr>
            <p:ph type="title"/>
          </p:nvPr>
        </p:nvSpPr>
        <p:spPr>
          <a:xfrm>
            <a:off x="838200" y="1"/>
            <a:ext cx="10515600" cy="1232898"/>
          </a:xfrm>
        </p:spPr>
        <p:txBody>
          <a:bodyPr>
            <a:normAutofit/>
          </a:bodyPr>
          <a:lstStyle/>
          <a:p>
            <a:pPr algn="ctr"/>
            <a:r>
              <a:rPr lang="en-IN" sz="5400" b="1" u="sng" dirty="0">
                <a:latin typeface="Abadi Extra Light" panose="020B0204020104020204" pitchFamily="34" charset="0"/>
              </a:rPr>
              <a:t>Quantity Ordered vs Sales</a:t>
            </a:r>
          </a:p>
        </p:txBody>
      </p:sp>
      <p:sp>
        <p:nvSpPr>
          <p:cNvPr id="3" name="Rectangle 2">
            <a:extLst>
              <a:ext uri="{FF2B5EF4-FFF2-40B4-BE49-F238E27FC236}">
                <a16:creationId xmlns:a16="http://schemas.microsoft.com/office/drawing/2014/main" id="{BDE48A07-0B2F-4AEE-8A30-745D1CB91780}"/>
              </a:ext>
            </a:extLst>
          </p:cNvPr>
          <p:cNvSpPr/>
          <p:nvPr/>
        </p:nvSpPr>
        <p:spPr>
          <a:xfrm>
            <a:off x="339047" y="1119883"/>
            <a:ext cx="11852953" cy="4031873"/>
          </a:xfrm>
          <a:prstGeom prst="rect">
            <a:avLst/>
          </a:prstGeom>
        </p:spPr>
        <p:txBody>
          <a:bodyPr wrap="square">
            <a:spAutoFit/>
          </a:bodyPr>
          <a:lstStyle/>
          <a:p>
            <a:r>
              <a:rPr lang="en-US" sz="3200" b="1" dirty="0"/>
              <a:t>Analysis</a:t>
            </a:r>
          </a:p>
          <a:p>
            <a:r>
              <a:rPr lang="en-US" sz="2400" dirty="0"/>
              <a:t>The scatter plot demonstrates the relationship between Quantity Ordered and Sales. A positive trend can be observed, indicating that larger order quantities generally result in higher sales values.</a:t>
            </a:r>
          </a:p>
          <a:p>
            <a:r>
              <a:rPr lang="en-US" sz="3200" b="1" dirty="0"/>
              <a:t>Key Insight</a:t>
            </a:r>
          </a:p>
          <a:p>
            <a:pPr marL="342900" indent="-342900">
              <a:buFont typeface="Courier New" panose="02070309020205020404" pitchFamily="49" charset="0"/>
              <a:buChar char="o"/>
            </a:pPr>
            <a:r>
              <a:rPr lang="en-US" sz="2400" dirty="0"/>
              <a:t>Strong positive relationship between </a:t>
            </a:r>
          </a:p>
          <a:p>
            <a:r>
              <a:rPr lang="en-US" sz="2400" dirty="0"/>
              <a:t>     quantity and sales. </a:t>
            </a:r>
          </a:p>
          <a:p>
            <a:pPr marL="342900" indent="-342900">
              <a:buFont typeface="Courier New" panose="02070309020205020404" pitchFamily="49" charset="0"/>
              <a:buChar char="o"/>
            </a:pPr>
            <a:r>
              <a:rPr lang="en-US" sz="2400" dirty="0"/>
              <a:t>Bulk purchases generate higher revenue. </a:t>
            </a:r>
          </a:p>
          <a:p>
            <a:pPr marL="342900" indent="-342900">
              <a:buFont typeface="Courier New" panose="02070309020205020404" pitchFamily="49" charset="0"/>
              <a:buChar char="o"/>
            </a:pPr>
            <a:r>
              <a:rPr lang="en-US" sz="2400" dirty="0"/>
              <a:t>Customer order volume directly affects </a:t>
            </a:r>
          </a:p>
          <a:p>
            <a:r>
              <a:rPr lang="en-US" sz="2400" dirty="0"/>
              <a:t>     business performance.</a:t>
            </a:r>
          </a:p>
        </p:txBody>
      </p:sp>
      <p:pic>
        <p:nvPicPr>
          <p:cNvPr id="5" name="Picture 4">
            <a:extLst>
              <a:ext uri="{FF2B5EF4-FFF2-40B4-BE49-F238E27FC236}">
                <a16:creationId xmlns:a16="http://schemas.microsoft.com/office/drawing/2014/main" id="{B69D5F4B-773E-4DC5-B5AA-462E70A45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6545" y="2445249"/>
            <a:ext cx="6325456" cy="4412750"/>
          </a:xfrm>
          <a:prstGeom prst="rect">
            <a:avLst/>
          </a:prstGeom>
        </p:spPr>
      </p:pic>
    </p:spTree>
    <p:extLst>
      <p:ext uri="{BB962C8B-B14F-4D97-AF65-F5344CB8AC3E}">
        <p14:creationId xmlns:p14="http://schemas.microsoft.com/office/powerpoint/2010/main" val="1373167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A00F1-5B51-4401-8723-56C4D42D2555}"/>
              </a:ext>
            </a:extLst>
          </p:cNvPr>
          <p:cNvSpPr>
            <a:spLocks noGrp="1"/>
          </p:cNvSpPr>
          <p:nvPr>
            <p:ph type="title"/>
          </p:nvPr>
        </p:nvSpPr>
        <p:spPr/>
        <p:txBody>
          <a:bodyPr>
            <a:normAutofit/>
          </a:bodyPr>
          <a:lstStyle/>
          <a:p>
            <a:pPr algn="ctr"/>
            <a:r>
              <a:rPr lang="en-IN" sz="5400" b="1" dirty="0"/>
              <a:t>Business Recommendations</a:t>
            </a:r>
          </a:p>
        </p:txBody>
      </p:sp>
      <p:sp>
        <p:nvSpPr>
          <p:cNvPr id="3" name="Rectangle 2">
            <a:extLst>
              <a:ext uri="{FF2B5EF4-FFF2-40B4-BE49-F238E27FC236}">
                <a16:creationId xmlns:a16="http://schemas.microsoft.com/office/drawing/2014/main" id="{406DE974-CEC7-4886-B3D5-C948C83F8666}"/>
              </a:ext>
            </a:extLst>
          </p:cNvPr>
          <p:cNvSpPr/>
          <p:nvPr/>
        </p:nvSpPr>
        <p:spPr>
          <a:xfrm>
            <a:off x="657545" y="1690688"/>
            <a:ext cx="11270751" cy="2677656"/>
          </a:xfrm>
          <a:prstGeom prst="rect">
            <a:avLst/>
          </a:prstGeom>
        </p:spPr>
        <p:txBody>
          <a:bodyPr wrap="square">
            <a:spAutoFit/>
          </a:bodyPr>
          <a:lstStyle/>
          <a:p>
            <a:r>
              <a:rPr lang="en-IN" sz="2400" b="1" dirty="0"/>
              <a:t>Recommendations :</a:t>
            </a:r>
          </a:p>
          <a:p>
            <a:endParaRPr lang="en-IN" sz="2400" dirty="0"/>
          </a:p>
          <a:p>
            <a:r>
              <a:rPr lang="en-IN" sz="2400" dirty="0"/>
              <a:t>✔ Focus on high-performing product categories</a:t>
            </a:r>
          </a:p>
          <a:p>
            <a:r>
              <a:rPr lang="en-IN" sz="2400" dirty="0"/>
              <a:t>✔ Promote bulk purchasing strategies</a:t>
            </a:r>
          </a:p>
          <a:p>
            <a:r>
              <a:rPr lang="en-IN" sz="2400" dirty="0"/>
              <a:t>✔ Improve customer retention programs</a:t>
            </a:r>
          </a:p>
          <a:p>
            <a:r>
              <a:rPr lang="en-IN" sz="2400" dirty="0"/>
              <a:t>✔ Use dashboards for continuous monitoring</a:t>
            </a:r>
          </a:p>
          <a:p>
            <a:r>
              <a:rPr lang="en-IN" sz="2400" dirty="0"/>
              <a:t>✔ Expand marketing toward profitable segments</a:t>
            </a:r>
          </a:p>
        </p:txBody>
      </p:sp>
    </p:spTree>
    <p:extLst>
      <p:ext uri="{BB962C8B-B14F-4D97-AF65-F5344CB8AC3E}">
        <p14:creationId xmlns:p14="http://schemas.microsoft.com/office/powerpoint/2010/main" val="318346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9DCB-C403-4CAF-9510-CB62273A73B7}"/>
              </a:ext>
            </a:extLst>
          </p:cNvPr>
          <p:cNvSpPr>
            <a:spLocks noGrp="1"/>
          </p:cNvSpPr>
          <p:nvPr>
            <p:ph type="title"/>
          </p:nvPr>
        </p:nvSpPr>
        <p:spPr/>
        <p:txBody>
          <a:bodyPr>
            <a:normAutofit/>
          </a:bodyPr>
          <a:lstStyle/>
          <a:p>
            <a:pPr algn="ctr"/>
            <a:r>
              <a:rPr lang="en-IN" sz="4800" b="1" dirty="0">
                <a:latin typeface="Arial" panose="020B0604020202020204" pitchFamily="34" charset="0"/>
                <a:cs typeface="Arial" panose="020B0604020202020204" pitchFamily="34" charset="0"/>
              </a:rPr>
              <a:t>Conclusion &amp; Recommendations</a:t>
            </a:r>
          </a:p>
        </p:txBody>
      </p:sp>
      <p:sp>
        <p:nvSpPr>
          <p:cNvPr id="3" name="Rectangle 2">
            <a:extLst>
              <a:ext uri="{FF2B5EF4-FFF2-40B4-BE49-F238E27FC236}">
                <a16:creationId xmlns:a16="http://schemas.microsoft.com/office/drawing/2014/main" id="{E4298384-057E-435E-9DBF-73B41FA8F635}"/>
              </a:ext>
            </a:extLst>
          </p:cNvPr>
          <p:cNvSpPr/>
          <p:nvPr/>
        </p:nvSpPr>
        <p:spPr>
          <a:xfrm>
            <a:off x="698642" y="1414562"/>
            <a:ext cx="11219379" cy="5078313"/>
          </a:xfrm>
          <a:prstGeom prst="rect">
            <a:avLst/>
          </a:prstGeom>
        </p:spPr>
        <p:txBody>
          <a:bodyPr wrap="square">
            <a:spAutoFit/>
          </a:bodyPr>
          <a:lstStyle/>
          <a:p>
            <a:r>
              <a:rPr lang="en-US" b="1" dirty="0"/>
              <a:t>Project Summary :</a:t>
            </a:r>
            <a:endParaRPr lang="en-US" dirty="0"/>
          </a:p>
          <a:p>
            <a:pPr marL="514350" indent="-514350">
              <a:buFont typeface="+mj-lt"/>
              <a:buAutoNum type="romanUcPeriod"/>
            </a:pPr>
            <a:r>
              <a:rPr lang="en-US" dirty="0"/>
              <a:t>Performed complete EDA and Business Intelligence analysis. </a:t>
            </a:r>
          </a:p>
          <a:p>
            <a:pPr marL="514350" indent="-514350">
              <a:buFont typeface="+mj-lt"/>
              <a:buAutoNum type="romanUcPeriod"/>
            </a:pPr>
            <a:r>
              <a:rPr lang="en-US" dirty="0"/>
              <a:t>Conducted statistical validation. </a:t>
            </a:r>
          </a:p>
          <a:p>
            <a:pPr marL="514350" indent="-514350">
              <a:buFont typeface="+mj-lt"/>
              <a:buAutoNum type="romanUcPeriod"/>
            </a:pPr>
            <a:r>
              <a:rPr lang="en-US" dirty="0"/>
              <a:t>Identified major revenue drivers. </a:t>
            </a:r>
          </a:p>
          <a:p>
            <a:pPr marL="514350" indent="-514350">
              <a:buFont typeface="+mj-lt"/>
              <a:buAutoNum type="romanUcPeriod"/>
            </a:pPr>
            <a:r>
              <a:rPr lang="en-US" dirty="0"/>
              <a:t>Generated actionable business recommendations. </a:t>
            </a:r>
          </a:p>
          <a:p>
            <a:pPr marL="514350" indent="-514350">
              <a:buFont typeface="+mj-lt"/>
              <a:buAutoNum type="romanUcPeriod"/>
            </a:pPr>
            <a:r>
              <a:rPr lang="en-US" dirty="0"/>
              <a:t>Demonstrated practical skills in:</a:t>
            </a:r>
          </a:p>
          <a:p>
            <a:pPr marL="971550" lvl="1" indent="-514350">
              <a:buFont typeface="Wingdings" panose="05000000000000000000" pitchFamily="2" charset="2"/>
              <a:buChar char="Ø"/>
            </a:pPr>
            <a:r>
              <a:rPr lang="en-US" dirty="0"/>
              <a:t>Python</a:t>
            </a:r>
          </a:p>
          <a:p>
            <a:pPr marL="971550" lvl="1" indent="-514350">
              <a:buFont typeface="Wingdings" panose="05000000000000000000" pitchFamily="2" charset="2"/>
              <a:buChar char="Ø"/>
            </a:pPr>
            <a:r>
              <a:rPr lang="en-US" dirty="0" err="1"/>
              <a:t>Numpy</a:t>
            </a:r>
            <a:endParaRPr lang="en-US" dirty="0"/>
          </a:p>
          <a:p>
            <a:pPr marL="971550" lvl="1" indent="-514350">
              <a:buFont typeface="Wingdings" panose="05000000000000000000" pitchFamily="2" charset="2"/>
              <a:buChar char="Ø"/>
            </a:pPr>
            <a:r>
              <a:rPr lang="en-US" dirty="0"/>
              <a:t>Pandas</a:t>
            </a:r>
          </a:p>
          <a:p>
            <a:pPr marL="971550" lvl="1" indent="-514350">
              <a:buFont typeface="Wingdings" panose="05000000000000000000" pitchFamily="2" charset="2"/>
              <a:buChar char="Ø"/>
            </a:pPr>
            <a:r>
              <a:rPr lang="en-IN" dirty="0"/>
              <a:t>Matplotlib</a:t>
            </a:r>
          </a:p>
          <a:p>
            <a:pPr marL="971550" lvl="1" indent="-514350">
              <a:buFont typeface="Wingdings" panose="05000000000000000000" pitchFamily="2" charset="2"/>
              <a:buChar char="Ø"/>
            </a:pPr>
            <a:r>
              <a:rPr lang="en-IN" dirty="0"/>
              <a:t>Seaborn</a:t>
            </a:r>
          </a:p>
          <a:p>
            <a:pPr marL="971550" lvl="1" indent="-514350">
              <a:buFont typeface="Wingdings" panose="05000000000000000000" pitchFamily="2" charset="2"/>
              <a:buChar char="Ø"/>
            </a:pPr>
            <a:r>
              <a:rPr lang="en-IN" dirty="0"/>
              <a:t>Statistical Analysis</a:t>
            </a:r>
          </a:p>
          <a:p>
            <a:pPr marL="971550" lvl="1" indent="-514350">
              <a:buFont typeface="Wingdings" panose="05000000000000000000" pitchFamily="2" charset="2"/>
              <a:buChar char="Ø"/>
            </a:pPr>
            <a:r>
              <a:rPr lang="en-IN" dirty="0"/>
              <a:t>Business Intelligence</a:t>
            </a:r>
          </a:p>
          <a:p>
            <a:pPr marL="971550" lvl="1" indent="-514350">
              <a:buFont typeface="Wingdings" panose="05000000000000000000" pitchFamily="2" charset="2"/>
              <a:buChar char="Ø"/>
            </a:pPr>
            <a:r>
              <a:rPr lang="en-IN" dirty="0"/>
              <a:t>Data Storytelling</a:t>
            </a:r>
          </a:p>
          <a:p>
            <a:pPr lvl="1"/>
            <a:endParaRPr lang="en-US" dirty="0"/>
          </a:p>
          <a:p>
            <a:r>
              <a:rPr lang="en-US" b="1" dirty="0"/>
              <a:t>Thank You</a:t>
            </a:r>
          </a:p>
          <a:p>
            <a:r>
              <a:rPr lang="en-US" b="1" dirty="0"/>
              <a:t>Madhav Gorla</a:t>
            </a:r>
          </a:p>
          <a:p>
            <a:r>
              <a:rPr lang="en-IN" b="1" dirty="0" err="1"/>
              <a:t>ApexPlanet</a:t>
            </a:r>
            <a:r>
              <a:rPr lang="en-IN" b="1" dirty="0"/>
              <a:t> Software </a:t>
            </a:r>
            <a:r>
              <a:rPr lang="en-IN" b="1" dirty="0" err="1"/>
              <a:t>Pvt.</a:t>
            </a:r>
            <a:r>
              <a:rPr lang="en-IN" b="1" dirty="0"/>
              <a:t> Ltd. Internship</a:t>
            </a:r>
            <a:endParaRPr lang="en-US" b="1" dirty="0"/>
          </a:p>
        </p:txBody>
      </p:sp>
    </p:spTree>
    <p:extLst>
      <p:ext uri="{BB962C8B-B14F-4D97-AF65-F5344CB8AC3E}">
        <p14:creationId xmlns:p14="http://schemas.microsoft.com/office/powerpoint/2010/main" val="352010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494</Words>
  <Application>Microsoft Office PowerPoint</Application>
  <PresentationFormat>Widescreen</PresentationFormat>
  <Paragraphs>97</Paragraphs>
  <Slides>11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Abadi Extra Light</vt:lpstr>
      <vt:lpstr>Arial</vt:lpstr>
      <vt:lpstr>Arial Black</vt:lpstr>
      <vt:lpstr>Bahnschrift</vt:lpstr>
      <vt:lpstr>Calibri</vt:lpstr>
      <vt:lpstr>Calibri Light</vt:lpstr>
      <vt:lpstr>Courier New</vt:lpstr>
      <vt:lpstr>Wingdings</vt:lpstr>
      <vt:lpstr>Office Theme</vt:lpstr>
      <vt:lpstr>Deep-Dive Analysis &amp; Interactive Dashboarding</vt:lpstr>
      <vt:lpstr>Project Objective</vt:lpstr>
      <vt:lpstr>KPI Dashboard</vt:lpstr>
      <vt:lpstr>Business Story</vt:lpstr>
      <vt:lpstr>Product Line Distribution Analysis</vt:lpstr>
      <vt:lpstr>Sales Distribution Analysis</vt:lpstr>
      <vt:lpstr>Correlation Analysis</vt:lpstr>
      <vt:lpstr>Statistical Validation</vt:lpstr>
      <vt:lpstr>Quantity Ordered vs Sales</vt:lpstr>
      <vt:lpstr>Business Recommendations</vt:lpstr>
      <vt:lpstr>Conclusion &amp; 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Deep-Dive Analysis &amp; Interactive Dashboarding</dc:title>
  <dc:creator>Madhav Gorla</dc:creator>
  <cp:lastModifiedBy>Madhav Gorla</cp:lastModifiedBy>
  <cp:revision>4</cp:revision>
  <dcterms:created xsi:type="dcterms:W3CDTF">2026-06-03T17:53:15Z</dcterms:created>
  <dcterms:modified xsi:type="dcterms:W3CDTF">2026-06-04T19:42:30Z</dcterms:modified>
</cp:coreProperties>
</file>